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2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0"/>
            <a:ext cx="2560320" cy="256032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822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🩺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 du Cancer du Sein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Projet Machine Learning</a:t>
            </a:r>
            <a:endParaRPr lang="en-US" sz="50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4114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8036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: Breast Cancer Wisconsin — Kaggle / UCI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569 patients  •  30 features  •  2 classes (Bénin / Malin)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 →  Modélisation  →  Déploiement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—  DATASET &amp; PRÉPARATION DES DONNÉES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Breast Cancer Wisconsin  (Kaggle / UCI)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55448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569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7472" y="199339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2267712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455 train  •  114 test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23160" y="146304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463040"/>
            <a:ext cx="196596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55448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369A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33→31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96312" y="199339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Colonnes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96312" y="2267712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+ Unnamed:32 supprimées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146304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463040"/>
            <a:ext cx="196596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155448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45152" y="199339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Valeurs manquantes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45152" y="2267712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propre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20840" y="146304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1463040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155448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M:212  B:357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99339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Distribution cible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93992" y="2267712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M=Malin  B=Bénin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28803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 (30 variables numériques)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273552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273552"/>
            <a:ext cx="27432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2735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 (10)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3593592"/>
            <a:ext cx="2560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radius, texture, perimeter, area, smoothness, compactness, concavity, concave_points, symmetry, fractal_dimension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46120" y="3273552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3273552"/>
            <a:ext cx="274320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2735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(10)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3593592"/>
            <a:ext cx="2560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Mêmes 10 features — erreur standard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2200" y="3273552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3273552"/>
            <a:ext cx="27432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2735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Worst (10)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3593592"/>
            <a:ext cx="2560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Mêmes 10 features — valeur la plus sévère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Encodage cible : M → 1  •  B → 0  •  Séparation train/test stratifiée (random_state=42)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—  ANALYSE EXPLORATOIRE (EDA)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B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 visualisations — résultats clés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630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🔥 Matrice de Corrélation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828800"/>
            <a:ext cx="2468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Heatmap (coolwarm, 31×31)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Forte corrélation entre les features _mean et _worst → redondance. radius / area / perimeter très liés entre eux.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72968" y="1371600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371600"/>
            <a:ext cx="64008" cy="16276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630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Top 10 Features vs Diagnostic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37560" y="1828800"/>
            <a:ext cx="2468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concave_points_worst, perimeter_worst, concave_points_mean en tête.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Ces features sont les plus discriminantes pour détecter la malignité.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71616" y="1371600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371600"/>
            <a:ext cx="64008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4630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🌊 KDE Distributions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6208" y="1828800"/>
            <a:ext cx="2468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radius_mean, area_mean, concavity_mean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Séparation nette Malin (M=1) / Bénin (B=0).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Distributions quasi non-chevauchantes.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00400"/>
            <a:ext cx="64008" cy="16276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2918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Boxplots — Outliers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" y="3657600"/>
            <a:ext cx="2468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Outliers détectés sur radius_mean, texture_mean, area_mean.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Conservés car cohérents biologiquement (tumeurs extrêmes réelles).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72968" y="3200400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3200400"/>
            <a:ext cx="64008" cy="16276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2918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🔵 Pairplot (4 features clés)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3657600"/>
            <a:ext cx="2468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radius_mean, texture_mean, area_mean, concavity_mean.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Clusters visuellement séparables selon diagnosis.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71616" y="3200400"/>
            <a:ext cx="26974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3200400"/>
            <a:ext cx="64008" cy="16276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32918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PCA 2 composantes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36208" y="3657600"/>
            <a:ext cx="2468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Projection 2D de 30 features normalisées.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Séparabilité linéaire confirmée — 2 clusters distincts visibles.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—  MODÉLISATION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Pipeline d'entraînement — 3 modèles comparés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389888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408176"/>
            <a:ext cx="1481328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data_clean.csv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(569×31)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1581912"/>
            <a:ext cx="1463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75104" y="1389888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0824" y="1408176"/>
            <a:ext cx="1481328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StandardScaler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 sur X_train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47872" y="1581912"/>
            <a:ext cx="1463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94176" y="1389888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1408176"/>
            <a:ext cx="1481328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train_test_split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 / 20%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stratify=y  rs=42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66944" y="1581912"/>
            <a:ext cx="1463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13248" y="1389888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58968" y="1408176"/>
            <a:ext cx="1481328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Entraînement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modèles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86016" y="1581912"/>
            <a:ext cx="1463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0" y="1389888"/>
            <a:ext cx="157276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1408176"/>
            <a:ext cx="1481328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Évaluation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+ AUC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395728"/>
            <a:ext cx="2743200" cy="2487168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95728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395728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7472" y="2779776"/>
            <a:ext cx="2560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⭐ MEILLEUR AUC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" y="3017520"/>
            <a:ext cx="2560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Params : max_iter=1000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329184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: 96.5%    ROC AUC : 0.9960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" y="3566160"/>
            <a:ext cx="658368" cy="2468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584448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87552" y="3566160"/>
            <a:ext cx="658368" cy="2468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584448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Précision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45920" y="3566160"/>
            <a:ext cx="658368" cy="2468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64208" y="3584448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304288" y="3566160"/>
            <a:ext cx="658368" cy="2468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22576" y="3584448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9184" y="3813048"/>
            <a:ext cx="65836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831336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Bénin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87552" y="3813048"/>
            <a:ext cx="65836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3831336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0.96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645920" y="3813048"/>
            <a:ext cx="65836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64208" y="3831336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0.99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304288" y="3813048"/>
            <a:ext cx="65836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22576" y="3831336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0.97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9184" y="4059936"/>
            <a:ext cx="658368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078224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87552" y="4059936"/>
            <a:ext cx="658368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5840" y="4078224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0.97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645920" y="4059936"/>
            <a:ext cx="658368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64208" y="4078224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0.93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304288" y="4059936"/>
            <a:ext cx="658368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22576" y="4078224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47472" y="4379976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Modèle sélectionné et sauvegardé (model.pkl)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0" y="2395728"/>
            <a:ext cx="27432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00400" y="2395728"/>
            <a:ext cx="274320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0" y="2395728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3291840" y="2779776"/>
            <a:ext cx="2560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Params : n_estimators=100, rs=42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291840" y="306324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: 97.4%    ROC AUC : 0.9929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73552" y="3337560"/>
            <a:ext cx="658368" cy="246888"/>
          </a:xfrm>
          <a:prstGeom prst="rect">
            <a:avLst/>
          </a:prstGeom>
          <a:solidFill>
            <a:srgbClr val="0369A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0" y="3355848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931920" y="3337560"/>
            <a:ext cx="658368" cy="246888"/>
          </a:xfrm>
          <a:prstGeom prst="rect">
            <a:avLst/>
          </a:prstGeom>
          <a:solidFill>
            <a:srgbClr val="0369A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50208" y="3355848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Précision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90288" y="3337560"/>
            <a:ext cx="658368" cy="246888"/>
          </a:xfrm>
          <a:prstGeom prst="rect">
            <a:avLst/>
          </a:prstGeom>
          <a:solidFill>
            <a:srgbClr val="0369A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08576" y="3355848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248656" y="3337560"/>
            <a:ext cx="658368" cy="246888"/>
          </a:xfrm>
          <a:prstGeom prst="rect">
            <a:avLst/>
          </a:prstGeom>
          <a:solidFill>
            <a:srgbClr val="0369A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66944" y="3355848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273552" y="3584448"/>
            <a:ext cx="65836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91840" y="3602736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Bénin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931920" y="3584448"/>
            <a:ext cx="65836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50208" y="3602736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0.96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590288" y="3584448"/>
            <a:ext cx="65836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08576" y="3602736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1.00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248656" y="3584448"/>
            <a:ext cx="65836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66944" y="3602736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0.98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273552" y="3831336"/>
            <a:ext cx="658368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91840" y="3849624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Malin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931920" y="3831336"/>
            <a:ext cx="658368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950208" y="3849624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1.00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590288" y="3831336"/>
            <a:ext cx="658368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08576" y="3849624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0.93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248656" y="3831336"/>
            <a:ext cx="658368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66944" y="3849624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0.96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291840" y="4151376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légèrement sup. mais AUC &lt; LR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144768" y="2395728"/>
            <a:ext cx="27432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144768" y="2395728"/>
            <a:ext cx="27432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36208" y="2395728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SVM (RBF)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6236208" y="2779776"/>
            <a:ext cx="2560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Params : kernel='rbf', probability=True, rs=42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236208" y="306324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: 97.4%    ROC AUC : 0.9947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217920" y="3337560"/>
            <a:ext cx="658368" cy="246888"/>
          </a:xfrm>
          <a:prstGeom prst="rect">
            <a:avLst/>
          </a:prstGeom>
          <a:solidFill>
            <a:srgbClr val="7C3A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36208" y="3355848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Classe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876288" y="3337560"/>
            <a:ext cx="658368" cy="246888"/>
          </a:xfrm>
          <a:prstGeom prst="rect">
            <a:avLst/>
          </a:prstGeom>
          <a:solidFill>
            <a:srgbClr val="7C3A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94576" y="3355848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Précision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7534656" y="3337560"/>
            <a:ext cx="658368" cy="246888"/>
          </a:xfrm>
          <a:prstGeom prst="rect">
            <a:avLst/>
          </a:prstGeom>
          <a:solidFill>
            <a:srgbClr val="7C3A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552944" y="3355848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193024" y="3337560"/>
            <a:ext cx="658368" cy="246888"/>
          </a:xfrm>
          <a:prstGeom prst="rect">
            <a:avLst/>
          </a:prstGeom>
          <a:solidFill>
            <a:srgbClr val="7C3A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211312" y="3355848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6217920" y="3584448"/>
            <a:ext cx="65836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236208" y="3602736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Bénin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6876288" y="3584448"/>
            <a:ext cx="65836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894576" y="3602736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0.96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7534656" y="3584448"/>
            <a:ext cx="65836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552944" y="3602736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1.00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8193024" y="3584448"/>
            <a:ext cx="65836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11312" y="3602736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0.98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217920" y="3831336"/>
            <a:ext cx="658368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236208" y="3849624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Malin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6876288" y="3831336"/>
            <a:ext cx="658368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894576" y="3849624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1.00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7534656" y="3831336"/>
            <a:ext cx="658368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552944" y="3849624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0.93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8193024" y="3831336"/>
            <a:ext cx="658368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211312" y="3849624"/>
            <a:ext cx="621792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0.96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6236208" y="4151376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 proche LR, moins interprétable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—  RÉSULTATS — RÉGRESSION LOGISTIQUE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Modèle retenu : Logistic Regression (max_iter=1000, StandardScaler)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1234440"/>
            <a:ext cx="1993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234440"/>
            <a:ext cx="199339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325880"/>
            <a:ext cx="18470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96.49%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9184" y="1892808"/>
            <a:ext cx="18470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" y="2176272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110/114 prédictions correctes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32304" y="1234440"/>
            <a:ext cx="1993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1234440"/>
            <a:ext cx="1993392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1325880"/>
            <a:ext cx="18470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369A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0.9960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05456" y="1892808"/>
            <a:ext cx="18470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 AUC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78024" y="2176272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Meilleur des 3 modèles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234440"/>
            <a:ext cx="1993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234440"/>
            <a:ext cx="1993392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1325880"/>
            <a:ext cx="18470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0.97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81728" y="1892808"/>
            <a:ext cx="18470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 Bénin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54296" y="2176272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Précision 0.96 / Recall 0.99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84848" y="1234440"/>
            <a:ext cx="1993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84848" y="1234440"/>
            <a:ext cx="1993392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325880"/>
            <a:ext cx="18470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0.95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58000" y="1892808"/>
            <a:ext cx="18470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 Malin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30568" y="2176272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Précision 0.97 / Recall 0.93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2761488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Matrice de Confusion — Test set (114 patients)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365760" y="3108960"/>
          <a:ext cx="4114800" cy="1444752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481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Prédit Bénin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Prédit Malin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Réel Bénin (72)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</a:rPr>
                        <a:t>TN = 71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FP = 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Réel Malin (42)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FN = 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</a:rPr>
                        <a:t>TP = 39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4663440" y="2761488"/>
            <a:ext cx="4114800" cy="1792224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2834640"/>
            <a:ext cx="379476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Comparatif final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 : Accuracy 96.49%  •  AUC 0.9960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      : Accuracy 97.37%  •  AUC 0.9929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SVM (RBF)           : Accuracy 97.37%  •  AUC 0.9947
</a:t>
            </a:r>
            <a:endParaRPr lang="en-US" sz="1100" dirty="0"/>
          </a:p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LR sélectionné car AUC le plus élevé (0.9960), plus interprétable et déployable facilement via joblib.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—  DÉPLOIEMENT — APPLICATION STREAMLIT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B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Prédiction interactive via interface web (app.py)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Fonctionnement de l'application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01368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01368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Chargement des données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039112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CSV ou saisie manuelle des 30 features via widgets (combobox / sliders ipywidgets)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6032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542032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Normalisation automatique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2798064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scaler.pkl chargé via joblib — StandardScaler appliqué sur les entrées utilisateur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319272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19272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300984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Prédiction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3557016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model.pkl (Logistic Regression) — renvoie la classe (Bénin/Malin) + probabilité associée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4078224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078224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059936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Visualisations dynamiques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4315968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Courbe ROC, matrice de confusion, classification_report affichés dans Streamlit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298448"/>
            <a:ext cx="0" cy="3611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37160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Fichiers sauvegardés (joblib)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17830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783080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85623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model.pkl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130552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Régression Logistique entraînée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60604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606040"/>
            <a:ext cx="64008" cy="685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67919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scaler.pkl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2953512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StandardScaler ajusté sur X_train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4290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3429000"/>
            <a:ext cx="64008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50215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columns.pkl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776472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Liste des 30 features (X.columns)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425196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4251960"/>
            <a:ext cx="6400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32511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app.py / app_logistic.py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4599432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Streamlit — interface web complète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 : Python • Pandas • NumPy • Scikit-learn • Matplotlib • Seaborn • Streamlit • Joblib • ipywidgets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2895"/>
            <a:ext cx="9144000" cy="453771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070"/>
            <a:ext cx="9144000" cy="4531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4114800" cy="41148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926080"/>
            <a:ext cx="3200400" cy="32004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731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Bilan du projet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Conclusion &amp; Résultats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11480" y="2286000"/>
            <a:ext cx="406908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286000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7744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37490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Breast Cancer Wisconsin (Kaggle) — 569 patients, 30 features, 0 NaN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Encodage M→1/B→0, suppression id + Unnamed:32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406908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286000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37744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37490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visualisations : corrélations, Top-10 features, KDE, boxplots,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pairplot, PCA → séparabilité linéaire confirmée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584448"/>
            <a:ext cx="406908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584448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75888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Modèle retenu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950208"/>
            <a:ext cx="37490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 — Accuracy 96.49%  •  AUC ROC 0.9960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TN=71  FP=1  FN=3  TP=39  (sur 114 patients test)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584448"/>
            <a:ext cx="406908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584448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675888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Déploiement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950208"/>
            <a:ext cx="37490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Streamlit (app.py) + formulaire ipywidgets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model.pkl + scaler.pkl + columns.pkl via joblib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EA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��  Pipeline complet : EDA → Modélisation → Évaluation → Déploiement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4572</Words>
  <Application>WPS Presentation</Application>
  <PresentationFormat>On-screen Show (16:9)</PresentationFormat>
  <Paragraphs>347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Georgia</vt:lpstr>
      <vt:lpstr>Georgia</vt:lpstr>
      <vt:lpstr>Georgia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Cancer du Sein — Projet ML</dc:title>
  <dc:creator>PptxGenJS</dc:creator>
  <dc:subject>PptxGenJS Presentation</dc:subject>
  <cp:lastModifiedBy>Rym</cp:lastModifiedBy>
  <cp:revision>3</cp:revision>
  <dcterms:created xsi:type="dcterms:W3CDTF">2026-04-13T22:33:00Z</dcterms:created>
  <dcterms:modified xsi:type="dcterms:W3CDTF">2026-04-14T11:48:06Z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42F2E1AD6F9A4F6095226A85FD7EA62C_12</vt:lpwstr>
  </property>
  <property fmtid="{D5CDD505-2E9C-101B-9397-08002B2CF9AE}" pid="3" name="KSOProductBuildVer">
    <vt:lpwstr>1036-12.2.0.23196</vt:lpwstr>
  </property>
</Properties>
</file>